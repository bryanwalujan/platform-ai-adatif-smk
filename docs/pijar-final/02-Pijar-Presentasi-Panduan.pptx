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Apa yang dapat dilakukan pengguna?. Siswa: mengikuti materi, kuis, proyek, rekomendasi, dan feedback. Guru: mengelola konten, memantau siswa, dan menilai proyek. Admin: mengelola identitas sekolah, pengguna, dan persetujuan guru. Data pembelajaran dibatasi berdasarkan sekolah dan hak akses mapel.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Siapkan akun dan akses sekolah. Siapkan aplikasi terbaru, internet, dan email aktif. Minta kode sekolah kepada admin untuk pendaftaran. Siswa meminta kode kelas/mapel kepada guru untuk bergabung. Gunakan akun uji saat melakukan demonstrasi. Kode sekolah berbeda dari kode kelas/mapel.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Daftar, verifikasi, lalu masuk. Isi nama, email, kata sandi minimal delapan karakter, peran, dan kode sekolah. Masukkan kode verifikasi enam digit dari email. Akun guru menunggu persetujuan admin sekolah. Untuk login berikutnya, gunakan email dan kata sandi. Sekolah ditetapkan dari akun; satu email digunakan untuk satu akun.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Admin: siapkan lingkungan sekolah. Periksa nama sekolah melalui Pengaturan Sekolah. Kelola dan bagikan kode sekolah kepada calon pengguna. Tinjau pendaftaran guru sebelum menyetujui atau menolak. Periksa pengguna dan atur guru pengampu mata pelajaran. Sekolah baru dan admin pertamanya disiapkan operator server.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Guru: siapkan mapel dan topik. Buka Mapel, buat atau pilih mata pelajaran yang diampu. Bagikan kode kelas atau tambahkan siswa dari sekolah yang sama. Buka Kelola Konten dan buat topik pembelajaran. Lengkapi RPP serta arahan masalah/proyek pada materi. Contoh: merancang denah ruang kerja dan menghitung kebutuhan bahan.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Guru: tambahkan materi multimedia. Pilih Materi → materi baru, lalu tentukan topik. Isi judul, durasi, dan penjelasan atau tautan pendukung. Tambahkan gambar, video, audio, dokumen, atau arsip. Tekan Simpan materi untuk siswa, tunggu unggahan, lalu pratinjau. Materi tidak boleh kosong: sertakan penjelasan, tautan, atau lampiran.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Format dan batas lampiran. Gambar: JPG, JPEG, PNG, GIF, dan WebP. Media: MP4, MOV, WebM, MP3, WAV, OGG, dan M4A. Dokumen: PDF, TXT, DOC/DOCX, PPT/PPTX, dan ZIP. Batas: 5 lampiran, 50 MB per file, total 100 MB. Pemutaran mengikuti codec perangkat; batas hosting dapat lebih kecil.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Guru: perbarui materi dan buat kuis. Pilih Edit pada materi yang ingin diperbarui. Lampiran lama tetap tersimpan kecuali dihapus secara eksplisit. Pada bagian Kuis, buat kuis untuk topik terkait. Pada Soal, pilih kuis dan isi pertanyaan, opsi, kunci, serta penjelasan. Pratinjau kembali materi dan periksa topik sebelum menyimpan.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Siswa: pelajari materi. Bergabung ke mapel menggunakan kode dari guru. Pilih mapel → topik → materi. Baca penjelasan, amati gambar, dan putar video/audio. Unduh dokumen bila diperlukan, lalu tekan Selesai belajar. Tautan halaman video dapat disalin ke browser jika tidak bisa diputar langsung.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Siswa: evaluasi dan rekomendasi. Kerjakan kuis dari halaman topik dan kirim jawaban. Perhatikan hasil dan materi yang perlu dipelajari lagi. Buka Adaptif, lalu pilih mapel untuk melihat rekomendasi. Gunakan forum topik untuk pertanyaan dan pembahasan masalah. Indikator penguasaan membantu belajar; bukan jaminan seluruh kompetensi praktik.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Siswa: kirim proyek PBL. Pilih Buat Proyek PBL untuk Topik Ini. Periksa konteks topik/mapel dan level yang ditampilkan. Isi judul, penjelasan, serta bukti multimedia yang relevan. Tekan Kirim proyek ke guru dan tunggu hingga berhasil. Minimal penjelasan atau lampiran. Periksa berkas sebelum dikirim.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Guru: nilai proyek dan beri feedback. Buka proyek yang menunggu penilaian. Periksa penjelasan karya dan seluruh bukti pendukung. Isi skor 0–100 pada setiap kriteria dan catatan perbaikan. Periksa nilai akhir, lalu simpan penilaian. Penilaian yang sudah tersimpan tidak dapat diulang melalui alur saat ini.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Siswa dan guru: tindak lanjuti hasil. Siswa membuka notifikasi dan hasil/feedback proyek. Baca skor rubrik serta catatan guru. Gunakan masukan untuk refleksi dan tugas berikutnya. Guru memantau kemajuan siswa dan Monitor AI Adaptif per mapel. Proyek yang telah dinilai tidak dapat dihapus melalui alur yang tersedia.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Jika terjadi kendala. Kode ditolak: pastikan kode sekolah dan kode mapel tidak tertukar. Konten tidak terlihat: periksa akun, sekolah, serta akses mapel. Unggahan gagal: periksa koneksi, format, ukuran, dan batas hosting. Media gagal diputar: unduh dan buka dengan aplikasi yang mendukung. Hubungi admin sekolah untuk persoalan akun atau persetujuan guru.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demonstrasi: Demonstrasi penggunaan dari awal sampai akhir. Guru membuat topik dan materi dengan beberapa jenis lampiran. Siswa membuka materi dan mengerjakan kuis. Siswa mengirim proyek; guru menilai dengan rubrik. Siswa membaca feedback dan melanjutkan belajar. Gunakan data demonstrasi. Identitas pencipta dan institusi diisi sebelum presentasi.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 APLIKASI</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Pijar</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a:t>
            </a:r>
          </a:p>
        </p:txBody>
      </p:sp>
      <p:sp>
        <p:nvSpPr>
          <p:cNvPr id="6" name="TextBox 5"/>
          <p:cNvSpPr txBox="1"/>
          <p:nvPr/>
        </p:nvSpPr>
        <p:spPr>
          <a:xfrm>
            <a:off x="731520" y="2057400"/>
            <a:ext cx="10607040" cy="1188720"/>
          </a:xfrm>
          <a:prstGeom prst="rect">
            <a:avLst/>
          </a:prstGeom>
          <a:noFill/>
        </p:spPr>
        <p:txBody>
          <a:bodyPr wrap="square">
            <a:spAutoFit/>
          </a:bodyPr>
          <a:lstStyle/>
          <a:p>
            <a:pPr>
              <a:spcAft>
                <a:spcPts val="1400"/>
              </a:spcAft>
              <a:defRPr sz="3600" b="1">
                <a:solidFill>
                  <a:srgbClr val="047F83"/>
                </a:solidFill>
                <a:latin typeface="Aptos"/>
              </a:defRPr>
            </a:pPr>
            <a:r>
              <a:t>Belajar terarah, berkarya melalui PBL.</a:t>
            </a:r>
          </a:p>
        </p:txBody>
      </p:sp>
      <p:sp>
        <p:nvSpPr>
          <p:cNvPr id="7" name="TextBox 6"/>
          <p:cNvSpPr txBox="1"/>
          <p:nvPr/>
        </p:nvSpPr>
        <p:spPr>
          <a:xfrm>
            <a:off x="731520" y="3383280"/>
            <a:ext cx="10424160" cy="1737360"/>
          </a:xfrm>
          <a:prstGeom prst="rect">
            <a:avLst/>
          </a:prstGeom>
          <a:noFill/>
        </p:spPr>
        <p:txBody>
          <a:bodyPr wrap="square">
            <a:spAutoFit/>
          </a:bodyPr>
          <a:lstStyle/>
          <a:p>
            <a:pPr>
              <a:spcAft>
                <a:spcPts val="1400"/>
              </a:spcAft>
              <a:defRPr sz="2300" b="0">
                <a:solidFill>
                  <a:srgbClr val="12354A"/>
                </a:solidFill>
                <a:latin typeface="Aptos"/>
              </a:defRPr>
            </a:pPr>
            <a:r>
              <a:t>Pencipta: [ISI NAMA LENGKAP]</a:t>
            </a:r>
          </a:p>
          <a:p>
            <a:pPr>
              <a:spcAft>
                <a:spcPts val="1400"/>
              </a:spcAft>
              <a:defRPr sz="2300" b="0">
                <a:solidFill>
                  <a:srgbClr val="12354A"/>
                </a:solidFill>
                <a:latin typeface="Aptos"/>
              </a:defRPr>
            </a:pPr>
            <a:r>
              <a:t>Institusi: [ISI INSTITUSI]</a:t>
            </a:r>
          </a:p>
          <a:p>
            <a:pPr>
              <a:spcAft>
                <a:spcPts val="1400"/>
              </a:spcAft>
              <a:defRPr sz="2300" b="0">
                <a:solidFill>
                  <a:srgbClr val="12354A"/>
                </a:solidFill>
                <a:latin typeface="Aptos"/>
              </a:defRPr>
            </a:pPr>
            <a:r>
              <a:t>Edisi dokumentasi: 16 September 2026</a:t>
            </a:r>
          </a:p>
        </p:txBody>
      </p:sp>
      <p:sp>
        <p:nvSpPr>
          <p:cNvPr id="8" name="TextBox 7"/>
          <p:cNvSpPr txBox="1"/>
          <p:nvPr/>
        </p:nvSpPr>
        <p:spPr>
          <a:xfrm>
            <a:off x="731520" y="5486400"/>
            <a:ext cx="10698480" cy="640080"/>
          </a:xfrm>
          <a:prstGeom prst="rect">
            <a:avLst/>
          </a:prstGeom>
          <a:noFill/>
        </p:spPr>
        <p:txBody>
          <a:bodyPr wrap="square">
            <a:spAutoFit/>
          </a:bodyPr>
          <a:lstStyle/>
          <a:p>
            <a:pPr>
              <a:spcAft>
                <a:spcPts val="1400"/>
              </a:spcAft>
              <a:defRPr sz="1600" b="0">
                <a:solidFill>
                  <a:srgbClr val="405564"/>
                </a:solidFill>
                <a:latin typeface="Aptos"/>
              </a:defRPr>
            </a:pPr>
            <a:r>
              <a:t>Nama pada dokumen: Pijar. Antarmuka kode acuan masih bernama Belajar Adaptif.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Apa yang dapat dilakukan pengguna?</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2</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Siswa: mengikuti materi, kuis, proyek, rekomendasi, dan feedback.</a:t>
            </a:r>
          </a:p>
          <a:p>
            <a:pPr>
              <a:spcAft>
                <a:spcPts val="1400"/>
              </a:spcAft>
              <a:defRPr sz="2300" b="0">
                <a:solidFill>
                  <a:srgbClr val="12354A"/>
                </a:solidFill>
                <a:latin typeface="Aptos"/>
              </a:defRPr>
            </a:pPr>
            <a:r>
              <a:t>2.  Guru: mengelola konten, memantau siswa, dan menilai proyek.</a:t>
            </a:r>
          </a:p>
          <a:p>
            <a:pPr>
              <a:spcAft>
                <a:spcPts val="1400"/>
              </a:spcAft>
              <a:defRPr sz="2300" b="0">
                <a:solidFill>
                  <a:srgbClr val="12354A"/>
                </a:solidFill>
                <a:latin typeface="Aptos"/>
              </a:defRPr>
            </a:pPr>
            <a:r>
              <a:t>3.  Admin: mengelola identitas sekolah, pengguna, dan persetujuan guru.</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Data pembelajaran dibatasi berdasarkan sekolah dan hak akses mapel.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Siapkan akun dan akses sekolah</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3</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Siapkan aplikasi terbaru, internet, dan email aktif.</a:t>
            </a:r>
          </a:p>
          <a:p>
            <a:pPr>
              <a:spcAft>
                <a:spcPts val="1400"/>
              </a:spcAft>
              <a:defRPr sz="2300" b="0">
                <a:solidFill>
                  <a:srgbClr val="12354A"/>
                </a:solidFill>
                <a:latin typeface="Aptos"/>
              </a:defRPr>
            </a:pPr>
            <a:r>
              <a:t>2.  Minta kode sekolah kepada admin untuk pendaftaran.</a:t>
            </a:r>
          </a:p>
          <a:p>
            <a:pPr>
              <a:spcAft>
                <a:spcPts val="1400"/>
              </a:spcAft>
              <a:defRPr sz="2300" b="0">
                <a:solidFill>
                  <a:srgbClr val="12354A"/>
                </a:solidFill>
                <a:latin typeface="Aptos"/>
              </a:defRPr>
            </a:pPr>
            <a:r>
              <a:t>3.  Siswa meminta kode kelas/mapel kepada guru untuk bergabung.</a:t>
            </a:r>
          </a:p>
          <a:p>
            <a:pPr>
              <a:spcAft>
                <a:spcPts val="1400"/>
              </a:spcAft>
              <a:defRPr sz="2300" b="0">
                <a:solidFill>
                  <a:srgbClr val="12354A"/>
                </a:solidFill>
                <a:latin typeface="Aptos"/>
              </a:defRPr>
            </a:pPr>
            <a:r>
              <a:t>4.  Gunakan akun uji saat melakukan demonstrasi.</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Kode sekolah berbeda dari kode kelas/mapel.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Daftar, verifikasi, lalu masuk</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4</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Isi nama, email, kata sandi minimal delapan karakter, peran, dan kode sekolah.</a:t>
            </a:r>
          </a:p>
          <a:p>
            <a:pPr>
              <a:spcAft>
                <a:spcPts val="1400"/>
              </a:spcAft>
              <a:defRPr sz="2300" b="0">
                <a:solidFill>
                  <a:srgbClr val="12354A"/>
                </a:solidFill>
                <a:latin typeface="Aptos"/>
              </a:defRPr>
            </a:pPr>
            <a:r>
              <a:t>2.  Masukkan kode verifikasi enam digit dari email.</a:t>
            </a:r>
          </a:p>
          <a:p>
            <a:pPr>
              <a:spcAft>
                <a:spcPts val="1400"/>
              </a:spcAft>
              <a:defRPr sz="2300" b="0">
                <a:solidFill>
                  <a:srgbClr val="12354A"/>
                </a:solidFill>
                <a:latin typeface="Aptos"/>
              </a:defRPr>
            </a:pPr>
            <a:r>
              <a:t>3.  Akun guru menunggu persetujuan admin sekolah.</a:t>
            </a:r>
          </a:p>
          <a:p>
            <a:pPr>
              <a:spcAft>
                <a:spcPts val="1400"/>
              </a:spcAft>
              <a:defRPr sz="2300" b="0">
                <a:solidFill>
                  <a:srgbClr val="12354A"/>
                </a:solidFill>
                <a:latin typeface="Aptos"/>
              </a:defRPr>
            </a:pPr>
            <a:r>
              <a:t>4.  Untuk login berikutnya, gunakan email dan kata sandi.</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Sekolah ditetapkan dari akun; satu email digunakan untuk satu akun.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Admin: siapkan lingkungan sekolah</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5</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Periksa nama sekolah melalui Pengaturan Sekolah.</a:t>
            </a:r>
          </a:p>
          <a:p>
            <a:pPr>
              <a:spcAft>
                <a:spcPts val="1400"/>
              </a:spcAft>
              <a:defRPr sz="2300" b="0">
                <a:solidFill>
                  <a:srgbClr val="12354A"/>
                </a:solidFill>
                <a:latin typeface="Aptos"/>
              </a:defRPr>
            </a:pPr>
            <a:r>
              <a:t>2.  Kelola dan bagikan kode sekolah kepada calon pengguna.</a:t>
            </a:r>
          </a:p>
          <a:p>
            <a:pPr>
              <a:spcAft>
                <a:spcPts val="1400"/>
              </a:spcAft>
              <a:defRPr sz="2300" b="0">
                <a:solidFill>
                  <a:srgbClr val="12354A"/>
                </a:solidFill>
                <a:latin typeface="Aptos"/>
              </a:defRPr>
            </a:pPr>
            <a:r>
              <a:t>3.  Tinjau pendaftaran guru sebelum menyetujui atau menolak.</a:t>
            </a:r>
          </a:p>
          <a:p>
            <a:pPr>
              <a:spcAft>
                <a:spcPts val="1400"/>
              </a:spcAft>
              <a:defRPr sz="2300" b="0">
                <a:solidFill>
                  <a:srgbClr val="12354A"/>
                </a:solidFill>
                <a:latin typeface="Aptos"/>
              </a:defRPr>
            </a:pPr>
            <a:r>
              <a:t>4.  Periksa pengguna dan atur guru pengampu mata pelajaran.</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Sekolah baru dan admin pertamanya disiapkan operator server.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Guru: siapkan mapel dan topik</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6</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Buka Mapel, buat atau pilih mata pelajaran yang diampu.</a:t>
            </a:r>
          </a:p>
          <a:p>
            <a:pPr>
              <a:spcAft>
                <a:spcPts val="1400"/>
              </a:spcAft>
              <a:defRPr sz="2300" b="0">
                <a:solidFill>
                  <a:srgbClr val="12354A"/>
                </a:solidFill>
                <a:latin typeface="Aptos"/>
              </a:defRPr>
            </a:pPr>
            <a:r>
              <a:t>2.  Bagikan kode kelas atau tambahkan siswa dari sekolah yang sama.</a:t>
            </a:r>
          </a:p>
          <a:p>
            <a:pPr>
              <a:spcAft>
                <a:spcPts val="1400"/>
              </a:spcAft>
              <a:defRPr sz="2300" b="0">
                <a:solidFill>
                  <a:srgbClr val="12354A"/>
                </a:solidFill>
                <a:latin typeface="Aptos"/>
              </a:defRPr>
            </a:pPr>
            <a:r>
              <a:t>3.  Buka Kelola Konten dan buat topik pembelajaran.</a:t>
            </a:r>
          </a:p>
          <a:p>
            <a:pPr>
              <a:spcAft>
                <a:spcPts val="1400"/>
              </a:spcAft>
              <a:defRPr sz="2300" b="0">
                <a:solidFill>
                  <a:srgbClr val="12354A"/>
                </a:solidFill>
                <a:latin typeface="Aptos"/>
              </a:defRPr>
            </a:pPr>
            <a:r>
              <a:t>4.  Lengkapi RPP serta arahan masalah/proyek pada materi.</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Contoh: merancang denah ruang kerja dan menghitung kebutuhan bahan.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Guru: tambahkan materi multimedia</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7</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Pilih Materi → materi baru, lalu tentukan topik.</a:t>
            </a:r>
          </a:p>
          <a:p>
            <a:pPr>
              <a:spcAft>
                <a:spcPts val="1400"/>
              </a:spcAft>
              <a:defRPr sz="2300" b="0">
                <a:solidFill>
                  <a:srgbClr val="12354A"/>
                </a:solidFill>
                <a:latin typeface="Aptos"/>
              </a:defRPr>
            </a:pPr>
            <a:r>
              <a:t>2.  Isi judul, durasi, dan penjelasan atau tautan pendukung.</a:t>
            </a:r>
          </a:p>
          <a:p>
            <a:pPr>
              <a:spcAft>
                <a:spcPts val="1400"/>
              </a:spcAft>
              <a:defRPr sz="2300" b="0">
                <a:solidFill>
                  <a:srgbClr val="12354A"/>
                </a:solidFill>
                <a:latin typeface="Aptos"/>
              </a:defRPr>
            </a:pPr>
            <a:r>
              <a:t>3.  Tambahkan gambar, video, audio, dokumen, atau arsip.</a:t>
            </a:r>
          </a:p>
          <a:p>
            <a:pPr>
              <a:spcAft>
                <a:spcPts val="1400"/>
              </a:spcAft>
              <a:defRPr sz="2300" b="0">
                <a:solidFill>
                  <a:srgbClr val="12354A"/>
                </a:solidFill>
                <a:latin typeface="Aptos"/>
              </a:defRPr>
            </a:pPr>
            <a:r>
              <a:t>4.  Tekan Simpan materi untuk siswa, tunggu unggahan, lalu pratinjau.</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Materi tidak boleh kosong: sertakan penjelasan, tautan, atau lampiran.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Format dan batas lampiran</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8</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Gambar: JPG, JPEG, PNG, GIF, dan WebP.</a:t>
            </a:r>
          </a:p>
          <a:p>
            <a:pPr>
              <a:spcAft>
                <a:spcPts val="1400"/>
              </a:spcAft>
              <a:defRPr sz="2300" b="0">
                <a:solidFill>
                  <a:srgbClr val="12354A"/>
                </a:solidFill>
                <a:latin typeface="Aptos"/>
              </a:defRPr>
            </a:pPr>
            <a:r>
              <a:t>2.  Media: MP4, MOV, WebM, MP3, WAV, OGG, dan M4A.</a:t>
            </a:r>
          </a:p>
          <a:p>
            <a:pPr>
              <a:spcAft>
                <a:spcPts val="1400"/>
              </a:spcAft>
              <a:defRPr sz="2300" b="0">
                <a:solidFill>
                  <a:srgbClr val="12354A"/>
                </a:solidFill>
                <a:latin typeface="Aptos"/>
              </a:defRPr>
            </a:pPr>
            <a:r>
              <a:t>3.  Dokumen: PDF, TXT, DOC/DOCX, PPT/PPTX, dan ZIP.</a:t>
            </a:r>
          </a:p>
          <a:p>
            <a:pPr>
              <a:spcAft>
                <a:spcPts val="1400"/>
              </a:spcAft>
              <a:defRPr sz="2300" b="0">
                <a:solidFill>
                  <a:srgbClr val="12354A"/>
                </a:solidFill>
                <a:latin typeface="Aptos"/>
              </a:defRPr>
            </a:pPr>
            <a:r>
              <a:t>4.  Batas: 5 lampiran, 50 MB per file, total 100 MB.</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Pemutaran mengikuti codec perangkat; batas hosting dapat lebih kecil.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Guru: perbarui materi dan buat kuis</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9</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Pilih Edit pada materi yang ingin diperbarui.</a:t>
            </a:r>
          </a:p>
          <a:p>
            <a:pPr>
              <a:spcAft>
                <a:spcPts val="1400"/>
              </a:spcAft>
              <a:defRPr sz="2300" b="0">
                <a:solidFill>
                  <a:srgbClr val="12354A"/>
                </a:solidFill>
                <a:latin typeface="Aptos"/>
              </a:defRPr>
            </a:pPr>
            <a:r>
              <a:t>2.  Lampiran lama tetap tersimpan kecuali dihapus secara eksplisit.</a:t>
            </a:r>
          </a:p>
          <a:p>
            <a:pPr>
              <a:spcAft>
                <a:spcPts val="1400"/>
              </a:spcAft>
              <a:defRPr sz="2300" b="0">
                <a:solidFill>
                  <a:srgbClr val="12354A"/>
                </a:solidFill>
                <a:latin typeface="Aptos"/>
              </a:defRPr>
            </a:pPr>
            <a:r>
              <a:t>3.  Pada bagian Kuis, buat kuis untuk topik terkait.</a:t>
            </a:r>
          </a:p>
          <a:p>
            <a:pPr>
              <a:spcAft>
                <a:spcPts val="1400"/>
              </a:spcAft>
              <a:defRPr sz="2300" b="0">
                <a:solidFill>
                  <a:srgbClr val="12354A"/>
                </a:solidFill>
                <a:latin typeface="Aptos"/>
              </a:defRPr>
            </a:pPr>
            <a:r>
              <a:t>4.  Pada Soal, pilih kuis dan isi pertanyaan, opsi, kunci, serta penjelasan.</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Pratinjau kembali materi dan periksa topik sebelum menyimpan.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Siswa: pelajari materi</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10</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Bergabung ke mapel menggunakan kode dari guru.</a:t>
            </a:r>
          </a:p>
          <a:p>
            <a:pPr>
              <a:spcAft>
                <a:spcPts val="1400"/>
              </a:spcAft>
              <a:defRPr sz="2300" b="0">
                <a:solidFill>
                  <a:srgbClr val="12354A"/>
                </a:solidFill>
                <a:latin typeface="Aptos"/>
              </a:defRPr>
            </a:pPr>
            <a:r>
              <a:t>2.  Pilih mapel → topik → materi.</a:t>
            </a:r>
          </a:p>
          <a:p>
            <a:pPr>
              <a:spcAft>
                <a:spcPts val="1400"/>
              </a:spcAft>
              <a:defRPr sz="2300" b="0">
                <a:solidFill>
                  <a:srgbClr val="12354A"/>
                </a:solidFill>
                <a:latin typeface="Aptos"/>
              </a:defRPr>
            </a:pPr>
            <a:r>
              <a:t>3.  Baca penjelasan, amati gambar, dan putar video/audio.</a:t>
            </a:r>
          </a:p>
          <a:p>
            <a:pPr>
              <a:spcAft>
                <a:spcPts val="1400"/>
              </a:spcAft>
              <a:defRPr sz="2300" b="0">
                <a:solidFill>
                  <a:srgbClr val="12354A"/>
                </a:solidFill>
                <a:latin typeface="Aptos"/>
              </a:defRPr>
            </a:pPr>
            <a:r>
              <a:t>4.  Unduh dokumen bila diperlukan, lalu tekan Selesai belajar.</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Tautan halaman video dapat disalin ke browser jika tidak bisa diputar langsung.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Siswa: evaluasi dan rekomendasi</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11</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Kerjakan kuis dari halaman topik dan kirim jawaban.</a:t>
            </a:r>
          </a:p>
          <a:p>
            <a:pPr>
              <a:spcAft>
                <a:spcPts val="1400"/>
              </a:spcAft>
              <a:defRPr sz="2300" b="0">
                <a:solidFill>
                  <a:srgbClr val="12354A"/>
                </a:solidFill>
                <a:latin typeface="Aptos"/>
              </a:defRPr>
            </a:pPr>
            <a:r>
              <a:t>2.  Perhatikan hasil dan materi yang perlu dipelajari lagi.</a:t>
            </a:r>
          </a:p>
          <a:p>
            <a:pPr>
              <a:spcAft>
                <a:spcPts val="1400"/>
              </a:spcAft>
              <a:defRPr sz="2300" b="0">
                <a:solidFill>
                  <a:srgbClr val="12354A"/>
                </a:solidFill>
                <a:latin typeface="Aptos"/>
              </a:defRPr>
            </a:pPr>
            <a:r>
              <a:t>3.  Buka Adaptif, lalu pilih mapel untuk melihat rekomendasi.</a:t>
            </a:r>
          </a:p>
          <a:p>
            <a:pPr>
              <a:spcAft>
                <a:spcPts val="1400"/>
              </a:spcAft>
              <a:defRPr sz="2300" b="0">
                <a:solidFill>
                  <a:srgbClr val="12354A"/>
                </a:solidFill>
                <a:latin typeface="Aptos"/>
              </a:defRPr>
            </a:pPr>
            <a:r>
              <a:t>4.  Gunakan forum topik untuk pertanyaan dan pembahasan masalah.</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Indikator penguasaan membantu belajar; bukan jaminan seluruh kompetensi praktik.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Siklus pembelajaran PBL</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12</a:t>
            </a:r>
          </a:p>
        </p:txBody>
      </p:sp>
      <p:pic>
        <p:nvPicPr>
          <p:cNvPr id="6" name="Picture 5" descr="02-alur-pbl.png"/>
          <p:cNvPicPr>
            <a:picLocks noChangeAspect="1"/>
          </p:cNvPicPr>
          <p:nvPr/>
        </p:nvPicPr>
        <p:blipFill>
          <a:blip r:embed="rId2"/>
          <a:stretch>
            <a:fillRect/>
          </a:stretch>
        </p:blipFill>
        <p:spPr>
          <a:xfrm>
            <a:off x="3886200" y="1737360"/>
            <a:ext cx="2964508" cy="4480560"/>
          </a:xfrm>
          <a:prstGeom prst="rect">
            <a:avLst/>
          </a:prstGeom>
        </p:spPr>
      </p:pic>
      <p:sp>
        <p:nvSpPr>
          <p:cNvPr id="7" name="TextBox 6"/>
          <p:cNvSpPr txBox="1"/>
          <p:nvPr/>
        </p:nvSpPr>
        <p:spPr>
          <a:xfrm>
            <a:off x="640080" y="2194560"/>
            <a:ext cx="3017520" cy="3383280"/>
          </a:xfrm>
          <a:prstGeom prst="rect">
            <a:avLst/>
          </a:prstGeom>
          <a:noFill/>
        </p:spPr>
        <p:txBody>
          <a:bodyPr wrap="square">
            <a:spAutoFit/>
          </a:bodyPr>
          <a:lstStyle/>
          <a:p>
            <a:pPr>
              <a:spcAft>
                <a:spcPts val="1400"/>
              </a:spcAft>
              <a:defRPr sz="2000" b="0">
                <a:solidFill>
                  <a:srgbClr val="12354A"/>
                </a:solidFill>
                <a:latin typeface="Aptos"/>
              </a:defRPr>
            </a:pPr>
            <a:r>
              <a:t>Guru memandu masalah, penyelidikan, dan refleksi.</a:t>
            </a:r>
          </a:p>
          <a:p>
            <a:pPr>
              <a:spcAft>
                <a:spcPts val="1400"/>
              </a:spcAft>
              <a:defRPr sz="2000" b="0">
                <a:solidFill>
                  <a:srgbClr val="12354A"/>
                </a:solidFill>
                <a:latin typeface="Aptos"/>
              </a:defRPr>
            </a:pPr>
          </a:p>
          <a:p>
            <a:pPr>
              <a:spcAft>
                <a:spcPts val="1400"/>
              </a:spcAft>
              <a:defRPr sz="2000" b="0">
                <a:solidFill>
                  <a:srgbClr val="12354A"/>
                </a:solidFill>
                <a:latin typeface="Aptos"/>
              </a:defRPr>
            </a:pPr>
            <a:r>
              <a:t>Aplikasi mendukung materi, kuis, proyek, serta penilaian.</a:t>
            </a:r>
          </a:p>
        </p:txBody>
      </p:sp>
      <p:sp>
        <p:nvSpPr>
          <p:cNvPr id="8" name="TextBox 7"/>
          <p:cNvSpPr txBox="1"/>
          <p:nvPr/>
        </p:nvSpPr>
        <p:spPr>
          <a:xfrm>
            <a:off x="8229600" y="2194560"/>
            <a:ext cx="3291840" cy="3383280"/>
          </a:xfrm>
          <a:prstGeom prst="rect">
            <a:avLst/>
          </a:prstGeom>
          <a:noFill/>
        </p:spPr>
        <p:txBody>
          <a:bodyPr wrap="square">
            <a:spAutoFit/>
          </a:bodyPr>
          <a:lstStyle/>
          <a:p>
            <a:pPr>
              <a:spcAft>
                <a:spcPts val="1400"/>
              </a:spcAft>
              <a:defRPr sz="2000" b="0">
                <a:solidFill>
                  <a:srgbClr val="12354A"/>
                </a:solidFill>
                <a:latin typeface="Aptos"/>
              </a:defRPr>
            </a:pPr>
            <a:r>
              <a:t>PBL berlaku lintas mapel SMK.</a:t>
            </a:r>
          </a:p>
          <a:p>
            <a:pPr>
              <a:spcAft>
                <a:spcPts val="1400"/>
              </a:spcAft>
              <a:defRPr sz="2000" b="0">
                <a:solidFill>
                  <a:srgbClr val="12354A"/>
                </a:solidFill>
                <a:latin typeface="Aptos"/>
              </a:defRPr>
            </a:pPr>
          </a:p>
          <a:p>
            <a:pPr>
              <a:spcAft>
                <a:spcPts val="1400"/>
              </a:spcAft>
              <a:defRPr sz="2000" b="0">
                <a:solidFill>
                  <a:srgbClr val="12354A"/>
                </a:solidFill>
                <a:latin typeface="Aptos"/>
              </a:defRPr>
            </a:pPr>
            <a:r>
              <a:t>Level yang ditampilkan: Dasar, Menengah, atau Lanjutan.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Siswa: kirim proyek PBL</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13</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Pilih Buat Proyek PBL untuk Topik Ini.</a:t>
            </a:r>
          </a:p>
          <a:p>
            <a:pPr>
              <a:spcAft>
                <a:spcPts val="1400"/>
              </a:spcAft>
              <a:defRPr sz="2300" b="0">
                <a:solidFill>
                  <a:srgbClr val="12354A"/>
                </a:solidFill>
                <a:latin typeface="Aptos"/>
              </a:defRPr>
            </a:pPr>
            <a:r>
              <a:t>2.  Periksa konteks topik/mapel dan level yang ditampilkan.</a:t>
            </a:r>
          </a:p>
          <a:p>
            <a:pPr>
              <a:spcAft>
                <a:spcPts val="1400"/>
              </a:spcAft>
              <a:defRPr sz="2300" b="0">
                <a:solidFill>
                  <a:srgbClr val="12354A"/>
                </a:solidFill>
                <a:latin typeface="Aptos"/>
              </a:defRPr>
            </a:pPr>
            <a:r>
              <a:t>3.  Isi judul, penjelasan, serta bukti multimedia yang relevan.</a:t>
            </a:r>
          </a:p>
          <a:p>
            <a:pPr>
              <a:spcAft>
                <a:spcPts val="1400"/>
              </a:spcAft>
              <a:defRPr sz="2300" b="0">
                <a:solidFill>
                  <a:srgbClr val="12354A"/>
                </a:solidFill>
                <a:latin typeface="Aptos"/>
              </a:defRPr>
            </a:pPr>
            <a:r>
              <a:t>4.  Tekan Kirim proyek ke guru dan tunggu hingga berhasil.</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Minimal penjelasan atau lampiran. Periksa berkas sebelum dikirim.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Guru: nilai proyek dan beri feedback</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14</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Buka proyek yang menunggu penilaian.</a:t>
            </a:r>
          </a:p>
          <a:p>
            <a:pPr>
              <a:spcAft>
                <a:spcPts val="1400"/>
              </a:spcAft>
              <a:defRPr sz="2300" b="0">
                <a:solidFill>
                  <a:srgbClr val="12354A"/>
                </a:solidFill>
                <a:latin typeface="Aptos"/>
              </a:defRPr>
            </a:pPr>
            <a:r>
              <a:t>2.  Periksa penjelasan karya dan seluruh bukti pendukung.</a:t>
            </a:r>
          </a:p>
          <a:p>
            <a:pPr>
              <a:spcAft>
                <a:spcPts val="1400"/>
              </a:spcAft>
              <a:defRPr sz="2300" b="0">
                <a:solidFill>
                  <a:srgbClr val="12354A"/>
                </a:solidFill>
                <a:latin typeface="Aptos"/>
              </a:defRPr>
            </a:pPr>
            <a:r>
              <a:t>3.  Isi skor 0–100 pada setiap kriteria dan catatan perbaikan.</a:t>
            </a:r>
          </a:p>
          <a:p>
            <a:pPr>
              <a:spcAft>
                <a:spcPts val="1400"/>
              </a:spcAft>
              <a:defRPr sz="2300" b="0">
                <a:solidFill>
                  <a:srgbClr val="12354A"/>
                </a:solidFill>
                <a:latin typeface="Aptos"/>
              </a:defRPr>
            </a:pPr>
            <a:r>
              <a:t>4.  Periksa nilai akhir, lalu simpan penilaian.</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Penilaian yang sudah tersimpan tidak dapat diulang melalui alur saat ini.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Rubrik universal untuk semua mapel</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15</a:t>
            </a:r>
          </a:p>
        </p:txBody>
      </p:sp>
      <p:sp>
        <p:nvSpPr>
          <p:cNvPr id="6" name="TextBox 5"/>
          <p:cNvSpPr txBox="1"/>
          <p:nvPr/>
        </p:nvSpPr>
        <p:spPr>
          <a:xfrm>
            <a:off x="822960" y="1874519"/>
            <a:ext cx="8229600" cy="594360"/>
          </a:xfrm>
          <a:prstGeom prst="rect">
            <a:avLst/>
          </a:prstGeom>
          <a:noFill/>
        </p:spPr>
        <p:txBody>
          <a:bodyPr wrap="square">
            <a:spAutoFit/>
          </a:bodyPr>
          <a:lstStyle/>
          <a:p>
            <a:pPr>
              <a:spcAft>
                <a:spcPts val="1400"/>
              </a:spcAft>
              <a:defRPr sz="2500" b="0">
                <a:solidFill>
                  <a:srgbClr val="12354A"/>
                </a:solidFill>
                <a:latin typeface="Aptos"/>
              </a:defRPr>
            </a:pPr>
            <a:r>
              <a:t>Pemecahan Masalah &amp; Inisiatif</a:t>
            </a:r>
          </a:p>
        </p:txBody>
      </p:sp>
      <p:sp>
        <p:nvSpPr>
          <p:cNvPr id="7" name="TextBox 6"/>
          <p:cNvSpPr txBox="1"/>
          <p:nvPr/>
        </p:nvSpPr>
        <p:spPr>
          <a:xfrm>
            <a:off x="9601200" y="1874519"/>
            <a:ext cx="1645920" cy="594360"/>
          </a:xfrm>
          <a:prstGeom prst="rect">
            <a:avLst/>
          </a:prstGeom>
          <a:noFill/>
        </p:spPr>
        <p:txBody>
          <a:bodyPr wrap="square">
            <a:spAutoFit/>
          </a:bodyPr>
          <a:lstStyle/>
          <a:p>
            <a:pPr>
              <a:spcAft>
                <a:spcPts val="1400"/>
              </a:spcAft>
              <a:defRPr sz="2700" b="1">
                <a:solidFill>
                  <a:srgbClr val="047F83"/>
                </a:solidFill>
                <a:latin typeface="Aptos"/>
              </a:defRPr>
            </a:pPr>
            <a:r>
              <a:t>25%</a:t>
            </a:r>
          </a:p>
        </p:txBody>
      </p:sp>
      <p:sp>
        <p:nvSpPr>
          <p:cNvPr id="8" name="TextBox 7"/>
          <p:cNvSpPr txBox="1"/>
          <p:nvPr/>
        </p:nvSpPr>
        <p:spPr>
          <a:xfrm>
            <a:off x="822960" y="2606039"/>
            <a:ext cx="8229600" cy="594360"/>
          </a:xfrm>
          <a:prstGeom prst="rect">
            <a:avLst/>
          </a:prstGeom>
          <a:noFill/>
        </p:spPr>
        <p:txBody>
          <a:bodyPr wrap="square">
            <a:spAutoFit/>
          </a:bodyPr>
          <a:lstStyle/>
          <a:p>
            <a:pPr>
              <a:spcAft>
                <a:spcPts val="1400"/>
              </a:spcAft>
              <a:defRPr sz="2500" b="0">
                <a:solidFill>
                  <a:srgbClr val="12354A"/>
                </a:solidFill>
                <a:latin typeface="Aptos"/>
              </a:defRPr>
            </a:pPr>
            <a:r>
              <a:t>Ketepatan Metode &amp; Hasil</a:t>
            </a:r>
          </a:p>
        </p:txBody>
      </p:sp>
      <p:sp>
        <p:nvSpPr>
          <p:cNvPr id="9" name="TextBox 8"/>
          <p:cNvSpPr txBox="1"/>
          <p:nvPr/>
        </p:nvSpPr>
        <p:spPr>
          <a:xfrm>
            <a:off x="9601200" y="2606039"/>
            <a:ext cx="1645920" cy="594360"/>
          </a:xfrm>
          <a:prstGeom prst="rect">
            <a:avLst/>
          </a:prstGeom>
          <a:noFill/>
        </p:spPr>
        <p:txBody>
          <a:bodyPr wrap="square">
            <a:spAutoFit/>
          </a:bodyPr>
          <a:lstStyle/>
          <a:p>
            <a:pPr>
              <a:spcAft>
                <a:spcPts val="1400"/>
              </a:spcAft>
              <a:defRPr sz="2700" b="1">
                <a:solidFill>
                  <a:srgbClr val="047F83"/>
                </a:solidFill>
                <a:latin typeface="Aptos"/>
              </a:defRPr>
            </a:pPr>
            <a:r>
              <a:t>35%</a:t>
            </a:r>
          </a:p>
        </p:txBody>
      </p:sp>
      <p:sp>
        <p:nvSpPr>
          <p:cNvPr id="10" name="TextBox 9"/>
          <p:cNvSpPr txBox="1"/>
          <p:nvPr/>
        </p:nvSpPr>
        <p:spPr>
          <a:xfrm>
            <a:off x="822960" y="3337560"/>
            <a:ext cx="8229600" cy="594360"/>
          </a:xfrm>
          <a:prstGeom prst="rect">
            <a:avLst/>
          </a:prstGeom>
          <a:noFill/>
        </p:spPr>
        <p:txBody>
          <a:bodyPr wrap="square">
            <a:spAutoFit/>
          </a:bodyPr>
          <a:lstStyle/>
          <a:p>
            <a:pPr>
              <a:spcAft>
                <a:spcPts val="1400"/>
              </a:spcAft>
              <a:defRPr sz="2500" b="0">
                <a:solidFill>
                  <a:srgbClr val="12354A"/>
                </a:solidFill>
                <a:latin typeface="Aptos"/>
              </a:defRPr>
            </a:pPr>
            <a:r>
              <a:t>Pemahaman Materi</a:t>
            </a:r>
          </a:p>
        </p:txBody>
      </p:sp>
      <p:sp>
        <p:nvSpPr>
          <p:cNvPr id="11" name="TextBox 10"/>
          <p:cNvSpPr txBox="1"/>
          <p:nvPr/>
        </p:nvSpPr>
        <p:spPr>
          <a:xfrm>
            <a:off x="9601200" y="3337560"/>
            <a:ext cx="1645920" cy="594360"/>
          </a:xfrm>
          <a:prstGeom prst="rect">
            <a:avLst/>
          </a:prstGeom>
          <a:noFill/>
        </p:spPr>
        <p:txBody>
          <a:bodyPr wrap="square">
            <a:spAutoFit/>
          </a:bodyPr>
          <a:lstStyle/>
          <a:p>
            <a:pPr>
              <a:spcAft>
                <a:spcPts val="1400"/>
              </a:spcAft>
              <a:defRPr sz="2700" b="1">
                <a:solidFill>
                  <a:srgbClr val="047F83"/>
                </a:solidFill>
                <a:latin typeface="Aptos"/>
              </a:defRPr>
            </a:pPr>
            <a:r>
              <a:t>25%</a:t>
            </a:r>
          </a:p>
        </p:txBody>
      </p:sp>
      <p:sp>
        <p:nvSpPr>
          <p:cNvPr id="12" name="TextBox 11"/>
          <p:cNvSpPr txBox="1"/>
          <p:nvPr/>
        </p:nvSpPr>
        <p:spPr>
          <a:xfrm>
            <a:off x="822960" y="4069080"/>
            <a:ext cx="8229600" cy="594360"/>
          </a:xfrm>
          <a:prstGeom prst="rect">
            <a:avLst/>
          </a:prstGeom>
          <a:noFill/>
        </p:spPr>
        <p:txBody>
          <a:bodyPr wrap="square">
            <a:spAutoFit/>
          </a:bodyPr>
          <a:lstStyle/>
          <a:p>
            <a:pPr>
              <a:spcAft>
                <a:spcPts val="1400"/>
              </a:spcAft>
              <a:defRPr sz="2500" b="0">
                <a:solidFill>
                  <a:srgbClr val="12354A"/>
                </a:solidFill>
                <a:latin typeface="Aptos"/>
              </a:defRPr>
            </a:pPr>
            <a:r>
              <a:t>Komunikasi &amp; Dokumentasi</a:t>
            </a:r>
          </a:p>
        </p:txBody>
      </p:sp>
      <p:sp>
        <p:nvSpPr>
          <p:cNvPr id="13" name="TextBox 12"/>
          <p:cNvSpPr txBox="1"/>
          <p:nvPr/>
        </p:nvSpPr>
        <p:spPr>
          <a:xfrm>
            <a:off x="9601200" y="4069080"/>
            <a:ext cx="1645920" cy="594360"/>
          </a:xfrm>
          <a:prstGeom prst="rect">
            <a:avLst/>
          </a:prstGeom>
          <a:noFill/>
        </p:spPr>
        <p:txBody>
          <a:bodyPr wrap="square">
            <a:spAutoFit/>
          </a:bodyPr>
          <a:lstStyle/>
          <a:p>
            <a:pPr>
              <a:spcAft>
                <a:spcPts val="1400"/>
              </a:spcAft>
              <a:defRPr sz="2700" b="1">
                <a:solidFill>
                  <a:srgbClr val="047F83"/>
                </a:solidFill>
                <a:latin typeface="Aptos"/>
              </a:defRPr>
            </a:pPr>
            <a:r>
              <a:t>15%</a:t>
            </a:r>
          </a:p>
        </p:txBody>
      </p:sp>
      <p:sp>
        <p:nvSpPr>
          <p:cNvPr id="14" name="TextBox 13"/>
          <p:cNvSpPr txBox="1"/>
          <p:nvPr/>
        </p:nvSpPr>
        <p:spPr>
          <a:xfrm>
            <a:off x="822960" y="5074920"/>
            <a:ext cx="10515600" cy="640080"/>
          </a:xfrm>
          <a:prstGeom prst="rect">
            <a:avLst/>
          </a:prstGeom>
          <a:noFill/>
        </p:spPr>
        <p:txBody>
          <a:bodyPr wrap="square">
            <a:spAutoFit/>
          </a:bodyPr>
          <a:lstStyle/>
          <a:p>
            <a:pPr>
              <a:spcAft>
                <a:spcPts val="1400"/>
              </a:spcAft>
              <a:defRPr sz="2400" b="1">
                <a:solidFill>
                  <a:srgbClr val="12354A"/>
                </a:solidFill>
                <a:latin typeface="Aptos"/>
              </a:defRPr>
            </a:pPr>
            <a:r>
              <a:t>Contoh skor 80, 90, 85, 80 → nilai akhir 84,75.</a:t>
            </a:r>
          </a:p>
        </p:txBody>
      </p:sp>
      <p:sp>
        <p:nvSpPr>
          <p:cNvPr id="15" name="TextBox 14"/>
          <p:cNvSpPr txBox="1"/>
          <p:nvPr/>
        </p:nvSpPr>
        <p:spPr>
          <a:xfrm>
            <a:off x="822960" y="5806440"/>
            <a:ext cx="10515600" cy="457200"/>
          </a:xfrm>
          <a:prstGeom prst="rect">
            <a:avLst/>
          </a:prstGeom>
          <a:noFill/>
        </p:spPr>
        <p:txBody>
          <a:bodyPr wrap="square">
            <a:spAutoFit/>
          </a:bodyPr>
          <a:lstStyle/>
          <a:p>
            <a:pPr>
              <a:spcAft>
                <a:spcPts val="1400"/>
              </a:spcAft>
              <a:defRPr sz="1700" b="0">
                <a:solidFill>
                  <a:srgbClr val="405564"/>
                </a:solidFill>
                <a:latin typeface="Aptos"/>
              </a:defRPr>
            </a:pPr>
            <a:r>
              <a:t>Format multimedia adalah bukti kompetensi, bukan syarat memperoleh nilai tinggi.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Siswa dan guru: tindak lanjuti hasil</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16</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Siswa membuka notifikasi dan hasil/feedback proyek.</a:t>
            </a:r>
          </a:p>
          <a:p>
            <a:pPr>
              <a:spcAft>
                <a:spcPts val="1400"/>
              </a:spcAft>
              <a:defRPr sz="2300" b="0">
                <a:solidFill>
                  <a:srgbClr val="12354A"/>
                </a:solidFill>
                <a:latin typeface="Aptos"/>
              </a:defRPr>
            </a:pPr>
            <a:r>
              <a:t>2.  Baca skor rubrik serta catatan guru.</a:t>
            </a:r>
          </a:p>
          <a:p>
            <a:pPr>
              <a:spcAft>
                <a:spcPts val="1400"/>
              </a:spcAft>
              <a:defRPr sz="2300" b="0">
                <a:solidFill>
                  <a:srgbClr val="12354A"/>
                </a:solidFill>
                <a:latin typeface="Aptos"/>
              </a:defRPr>
            </a:pPr>
            <a:r>
              <a:t>3.  Gunakan masukan untuk refleksi dan tugas berikutnya.</a:t>
            </a:r>
          </a:p>
          <a:p>
            <a:pPr>
              <a:spcAft>
                <a:spcPts val="1400"/>
              </a:spcAft>
              <a:defRPr sz="2300" b="0">
                <a:solidFill>
                  <a:srgbClr val="12354A"/>
                </a:solidFill>
                <a:latin typeface="Aptos"/>
              </a:defRPr>
            </a:pPr>
            <a:r>
              <a:t>4.  Guru memantau kemajuan siswa dan Monitor AI Adaptif per mapel.</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Proyek yang telah dinilai tidak dapat dihapus melalui alur yang tersedia.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Jika terjadi kendala</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17</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Kode ditolak: pastikan kode sekolah dan kode mapel tidak tertukar.</a:t>
            </a:r>
          </a:p>
          <a:p>
            <a:pPr>
              <a:spcAft>
                <a:spcPts val="1400"/>
              </a:spcAft>
              <a:defRPr sz="2300" b="0">
                <a:solidFill>
                  <a:srgbClr val="12354A"/>
                </a:solidFill>
                <a:latin typeface="Aptos"/>
              </a:defRPr>
            </a:pPr>
            <a:r>
              <a:t>2.  Konten tidak terlihat: periksa akun, sekolah, serta akses mapel.</a:t>
            </a:r>
          </a:p>
          <a:p>
            <a:pPr>
              <a:spcAft>
                <a:spcPts val="1400"/>
              </a:spcAft>
              <a:defRPr sz="2300" b="0">
                <a:solidFill>
                  <a:srgbClr val="12354A"/>
                </a:solidFill>
                <a:latin typeface="Aptos"/>
              </a:defRPr>
            </a:pPr>
            <a:r>
              <a:t>3.  Unggahan gagal: periksa koneksi, format, ukuran, dan batas hosting.</a:t>
            </a:r>
          </a:p>
          <a:p>
            <a:pPr>
              <a:spcAft>
                <a:spcPts val="1400"/>
              </a:spcAft>
              <a:defRPr sz="2300" b="0">
                <a:solidFill>
                  <a:srgbClr val="12354A"/>
                </a:solidFill>
                <a:latin typeface="Aptos"/>
              </a:defRPr>
            </a:pPr>
            <a:r>
              <a:t>4.  Media gagal diputar: unduh dan buka dengan aplikasi yang mendukung.</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Hubungi admin sekolah untuk persoalan akun atau persetujuan guru.</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8FA"/>
        </a:solidFill>
        <a:effectLst/>
      </p:bgPr>
    </p:bg>
    <p:spTree>
      <p:nvGrpSpPr>
        <p:cNvPr id="1" name=""/>
        <p:cNvGrpSpPr/>
        <p:nvPr/>
      </p:nvGrpSpPr>
      <p:grpSpPr/>
      <p:sp>
        <p:nvSpPr>
          <p:cNvPr id="2" name="TextBox 1"/>
          <p:cNvSpPr txBox="1"/>
          <p:nvPr/>
        </p:nvSpPr>
        <p:spPr>
          <a:xfrm>
            <a:off x="548640" y="274320"/>
            <a:ext cx="10058400" cy="365760"/>
          </a:xfrm>
          <a:prstGeom prst="rect">
            <a:avLst/>
          </a:prstGeom>
          <a:noFill/>
        </p:spPr>
        <p:txBody>
          <a:bodyPr wrap="square">
            <a:spAutoFit/>
          </a:bodyPr>
          <a:lstStyle/>
          <a:p>
            <a:pPr>
              <a:spcAft>
                <a:spcPts val="1400"/>
              </a:spcAft>
              <a:defRPr sz="1300" b="1">
                <a:solidFill>
                  <a:srgbClr val="047F83"/>
                </a:solidFill>
                <a:latin typeface="Aptos"/>
              </a:defRPr>
            </a:pPr>
            <a:r>
              <a:t>PIJAR  /  PANDUAN PENGGUNAAN</a:t>
            </a:r>
          </a:p>
        </p:txBody>
      </p:sp>
      <p:sp>
        <p:nvSpPr>
          <p:cNvPr id="3" name="TextBox 2"/>
          <p:cNvSpPr txBox="1"/>
          <p:nvPr/>
        </p:nvSpPr>
        <p:spPr>
          <a:xfrm>
            <a:off x="548640" y="914400"/>
            <a:ext cx="10972800" cy="914400"/>
          </a:xfrm>
          <a:prstGeom prst="rect">
            <a:avLst/>
          </a:prstGeom>
          <a:noFill/>
        </p:spPr>
        <p:txBody>
          <a:bodyPr wrap="square">
            <a:spAutoFit/>
          </a:bodyPr>
          <a:lstStyle/>
          <a:p>
            <a:pPr>
              <a:spcAft>
                <a:spcPts val="1400"/>
              </a:spcAft>
              <a:defRPr sz="3200" b="1">
                <a:solidFill>
                  <a:srgbClr val="12354A"/>
                </a:solidFill>
                <a:latin typeface="Aptos"/>
              </a:defRPr>
            </a:pPr>
            <a:r>
              <a:t>Demonstrasi penggunaan dari awal sampai akhir</a:t>
            </a:r>
          </a:p>
        </p:txBody>
      </p:sp>
      <p:sp>
        <p:nvSpPr>
          <p:cNvPr id="4" name="TextBox 3"/>
          <p:cNvSpPr txBox="1"/>
          <p:nvPr/>
        </p:nvSpPr>
        <p:spPr>
          <a:xfrm>
            <a:off x="548640" y="6419088"/>
            <a:ext cx="10058400" cy="274320"/>
          </a:xfrm>
          <a:prstGeom prst="rect">
            <a:avLst/>
          </a:prstGeom>
          <a:noFill/>
        </p:spPr>
        <p:txBody>
          <a:bodyPr wrap="square">
            <a:spAutoFit/>
          </a:bodyPr>
          <a:lstStyle/>
          <a:p>
            <a:pPr>
              <a:spcAft>
                <a:spcPts val="1400"/>
              </a:spcAft>
              <a:defRPr sz="1100" b="0">
                <a:solidFill>
                  <a:srgbClr val="405564"/>
                </a:solidFill>
                <a:latin typeface="Aptos"/>
              </a:defRPr>
            </a:pPr>
            <a:r>
              <a:t>Platform Pembelajaran Adaptif Berbasis PBL untuk Siswa SMK</a:t>
            </a:r>
          </a:p>
        </p:txBody>
      </p:sp>
      <p:sp>
        <p:nvSpPr>
          <p:cNvPr id="5" name="TextBox 4"/>
          <p:cNvSpPr txBox="1"/>
          <p:nvPr/>
        </p:nvSpPr>
        <p:spPr>
          <a:xfrm>
            <a:off x="10972800" y="6419088"/>
            <a:ext cx="548640" cy="274320"/>
          </a:xfrm>
          <a:prstGeom prst="rect">
            <a:avLst/>
          </a:prstGeom>
          <a:noFill/>
        </p:spPr>
        <p:txBody>
          <a:bodyPr wrap="square">
            <a:spAutoFit/>
          </a:bodyPr>
          <a:lstStyle/>
          <a:p>
            <a:pPr>
              <a:spcAft>
                <a:spcPts val="1400"/>
              </a:spcAft>
              <a:defRPr sz="1100" b="0">
                <a:solidFill>
                  <a:srgbClr val="405564"/>
                </a:solidFill>
                <a:latin typeface="Aptos"/>
              </a:defRPr>
            </a:pPr>
            <a:r>
              <a:t>18</a:t>
            </a:r>
          </a:p>
        </p:txBody>
      </p:sp>
      <p:sp>
        <p:nvSpPr>
          <p:cNvPr id="6" name="TextBox 5"/>
          <p:cNvSpPr txBox="1"/>
          <p:nvPr/>
        </p:nvSpPr>
        <p:spPr>
          <a:xfrm>
            <a:off x="731520" y="1920240"/>
            <a:ext cx="10698480" cy="3886200"/>
          </a:xfrm>
          <a:prstGeom prst="rect">
            <a:avLst/>
          </a:prstGeom>
          <a:noFill/>
        </p:spPr>
        <p:txBody>
          <a:bodyPr wrap="square">
            <a:spAutoFit/>
          </a:bodyPr>
          <a:lstStyle/>
          <a:p>
            <a:pPr>
              <a:spcAft>
                <a:spcPts val="1400"/>
              </a:spcAft>
              <a:defRPr sz="2300" b="0">
                <a:solidFill>
                  <a:srgbClr val="12354A"/>
                </a:solidFill>
                <a:latin typeface="Aptos"/>
              </a:defRPr>
            </a:pPr>
            <a:r>
              <a:t>1.  Guru membuat topik dan materi dengan beberapa jenis lampiran.</a:t>
            </a:r>
          </a:p>
          <a:p>
            <a:pPr>
              <a:spcAft>
                <a:spcPts val="1400"/>
              </a:spcAft>
              <a:defRPr sz="2300" b="0">
                <a:solidFill>
                  <a:srgbClr val="12354A"/>
                </a:solidFill>
                <a:latin typeface="Aptos"/>
              </a:defRPr>
            </a:pPr>
            <a:r>
              <a:t>2.  Siswa membuka materi dan mengerjakan kuis.</a:t>
            </a:r>
          </a:p>
          <a:p>
            <a:pPr>
              <a:spcAft>
                <a:spcPts val="1400"/>
              </a:spcAft>
              <a:defRPr sz="2300" b="0">
                <a:solidFill>
                  <a:srgbClr val="12354A"/>
                </a:solidFill>
                <a:latin typeface="Aptos"/>
              </a:defRPr>
            </a:pPr>
            <a:r>
              <a:t>3.  Siswa mengirim proyek; guru menilai dengan rubrik.</a:t>
            </a:r>
          </a:p>
          <a:p>
            <a:pPr>
              <a:spcAft>
                <a:spcPts val="1400"/>
              </a:spcAft>
              <a:defRPr sz="2300" b="0">
                <a:solidFill>
                  <a:srgbClr val="12354A"/>
                </a:solidFill>
                <a:latin typeface="Aptos"/>
              </a:defRPr>
            </a:pPr>
            <a:r>
              <a:t>4.  Siswa membaca feedback dan melanjutkan belajar.</a:t>
            </a:r>
          </a:p>
        </p:txBody>
      </p:sp>
      <p:sp>
        <p:nvSpPr>
          <p:cNvPr id="7" name="TextBox 6"/>
          <p:cNvSpPr txBox="1"/>
          <p:nvPr/>
        </p:nvSpPr>
        <p:spPr>
          <a:xfrm>
            <a:off x="731520" y="5806440"/>
            <a:ext cx="10698480" cy="548640"/>
          </a:xfrm>
          <a:prstGeom prst="rect">
            <a:avLst/>
          </a:prstGeom>
          <a:noFill/>
        </p:spPr>
        <p:txBody>
          <a:bodyPr wrap="square">
            <a:spAutoFit/>
          </a:bodyPr>
          <a:lstStyle/>
          <a:p>
            <a:pPr>
              <a:spcAft>
                <a:spcPts val="1400"/>
              </a:spcAft>
              <a:defRPr sz="1500" b="0">
                <a:solidFill>
                  <a:srgbClr val="047F83"/>
                </a:solidFill>
                <a:latin typeface="Aptos"/>
              </a:defRPr>
            </a:pPr>
            <a:r>
              <a:t>Gunakan data demonstrasi. Identitas pencipta dan institusi diisi sebelum presentasi.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